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c45e8e93e5e4826" /><Relationship Type="http://schemas.openxmlformats.org/officeDocument/2006/relationships/extended-properties" Target="/docProps/app.xml" Id="Ra5cbb4b78811441a" /><Relationship Type="http://schemas.openxmlformats.org/officeDocument/2006/relationships/officeDocument" Target="/ppt/presentation.xml" Id="R8895182794154e0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1e44c10750e4170"/>
  </p:sldMasterIdLst>
  <p:notesMasterIdLst>
    <p:notesMasterId xmlns:r="http://schemas.openxmlformats.org/officeDocument/2006/relationships" r:id="R7fbd04b39cb54ebd"/>
  </p:notesMasterIdLst>
  <p:sldIdLst>
    <p:sldId xmlns:r="http://schemas.openxmlformats.org/officeDocument/2006/relationships" id="256" r:id="Rcbe19b7f2da04857"/>
    <p:sldId xmlns:r="http://schemas.openxmlformats.org/officeDocument/2006/relationships" id="257" r:id="Rcd98be6be6124ec7"/>
    <p:sldId xmlns:r="http://schemas.openxmlformats.org/officeDocument/2006/relationships" id="258" r:id="R7077482b6be54edd"/>
    <p:sldId xmlns:r="http://schemas.openxmlformats.org/officeDocument/2006/relationships" id="259" r:id="R450d00a41dd44a6e"/>
    <p:sldId xmlns:r="http://schemas.openxmlformats.org/officeDocument/2006/relationships" id="260" r:id="R39714fecc6864e10"/>
    <p:sldId xmlns:r="http://schemas.openxmlformats.org/officeDocument/2006/relationships" id="261" r:id="Rc175b7b276274d86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1e44c10750e4170" /><Relationship Type="http://schemas.openxmlformats.org/officeDocument/2006/relationships/theme" Target="/ppt/theme/theme1.xml" Id="Rbcc987ed4beb407e" /><Relationship Type="http://schemas.openxmlformats.org/officeDocument/2006/relationships/notesMaster" Target="/ppt/notesMasters/notesMaster1.xml" Id="R7fbd04b39cb54ebd" /><Relationship Type="http://schemas.openxmlformats.org/officeDocument/2006/relationships/presProps" Target="/ppt/presProps.xml" Id="Rede139b4f40a4a1b" /><Relationship Type="http://schemas.openxmlformats.org/officeDocument/2006/relationships/viewProps" Target="/ppt/viewProps.xml" Id="Rf16f28e5086a4c5a" /><Relationship Type="http://schemas.openxmlformats.org/officeDocument/2006/relationships/tableStyles" Target="/ppt/tableStyles.xml" Id="Raa12046fbd0c4717" /><Relationship Type="http://schemas.openxmlformats.org/officeDocument/2006/relationships/slide" Target="/ppt/slides/slide1.xml" Id="Rcbe19b7f2da04857" /><Relationship Type="http://schemas.openxmlformats.org/officeDocument/2006/relationships/slide" Target="/ppt/slides/slide2.xml" Id="Rcd98be6be6124ec7" /><Relationship Type="http://schemas.openxmlformats.org/officeDocument/2006/relationships/slide" Target="/ppt/slides/slide3.xml" Id="R7077482b6be54edd" /><Relationship Type="http://schemas.openxmlformats.org/officeDocument/2006/relationships/slide" Target="/ppt/slides/slide4.xml" Id="R450d00a41dd44a6e" /><Relationship Type="http://schemas.openxmlformats.org/officeDocument/2006/relationships/slide" Target="/ppt/slides/slide5.xml" Id="R39714fecc6864e10" /><Relationship Type="http://schemas.openxmlformats.org/officeDocument/2006/relationships/slide" Target="/ppt/slides/slide6.xml" Id="Rc175b7b276274d8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77e98ef3504a426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2f8111b7ad14908" /><Relationship Type="http://schemas.openxmlformats.org/officeDocument/2006/relationships/notesMaster" Target="/ppt/notesMasters/notesMaster1.xml" Id="R301107711f4f4c9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d162518fc494d53" /><Relationship Type="http://schemas.openxmlformats.org/officeDocument/2006/relationships/notesMaster" Target="/ppt/notesMasters/notesMaster1.xml" Id="Rb081cfd110664ad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ae29cd388a94539" /><Relationship Type="http://schemas.openxmlformats.org/officeDocument/2006/relationships/notesMaster" Target="/ppt/notesMasters/notesMaster1.xml" Id="Rac298eddfc264ca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6a471d3bb334de9" /><Relationship Type="http://schemas.openxmlformats.org/officeDocument/2006/relationships/notesMaster" Target="/ppt/notesMasters/notesMaster1.xml" Id="R2e2d131603e243f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b0c9637127543cc" /><Relationship Type="http://schemas.openxmlformats.org/officeDocument/2006/relationships/notesMaster" Target="/ppt/notesMasters/notesMaster1.xml" Id="R554dca7d2ca9442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7b9c07d1f404637" /><Relationship Type="http://schemas.openxmlformats.org/officeDocument/2006/relationships/notesMaster" Target="/ppt/notesMasters/notesMaster1.xml" Id="R070d694fc0f3462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На первом слайде представьтесь и коротко скажите, что MyOwnIDE — это инструмент, который помогает быстрее проходить цикл решения задачи: написать код, запустить его, оценить сложность и проверить на крайних случаях.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Репозиторий проекта, локально запущенный продукт и опубликованный домен sproga.xyz.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Здесь важно подчеркнуть, что задача проекта была не просто сделать ещё один компилятор, а собрать в одном месте полный рабочий цикл решения задач.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Репозиторий проекта, локально запущенный продукт и опубликованный домен sproga.xyz.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На этом слайде логика простая: сначала пользователь запускает код, потом проверяет асимптотику, затем быстро прогоняет решение на типичных крайних случаях.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Репозиторий проекта, локально запущенный продукт и опубликованный домен sproga.xyz.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Здесь донесите до жюри, что это не просто макет интерфейса, а рабочая система с реальным выполнением кода, ИИ-анализом и опубликованным доступом по домену.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Репозиторий проекта, локально запущенный продукт и опубликованный домен sproga.xyz.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Это ваш готовый сценарий живой демонстрации. Делайте быстро и по делу: жюри должно увидеть настоящий пользовательский путь, а не просто красивые слайды.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Репозиторий проекта, локально запущенный продукт и опубликованный домен sproga.xyz.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Финал должен звучать уверенно: MyOwnIDE — это уже рабочий браузерный помощник для решения задач, который можно использовать сейчас и развивать дальше как полноценный продукт.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Репозиторий проекта, локально запущенный продукт и опубликованный домен sproga.xyz.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3502288c514468a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 1">
            <a:extLst xmlns:a="http://schemas.openxmlformats.org/drawingml/2006/main">
              <a:ext uri="{FF2B5EF4-FFF2-40B4-BE49-F238E27FC236}">
                <a16:creationId xmlns:a16="http://schemas.microsoft.com/office/drawing/2014/main" id="{35248C5C-26AF-43FA-B372-A29109CD96D6}"/>
              </a:ext>
            </a:extLst>
          </p:cNvPr>
          <p:cNvSpPr/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/>
        </p:txBody>
      </p:sp>
      <p:sp>
        <p:nvSpPr>
          <p:cNvPr id="2" name="Subtitle 2">
            <a:extLst xmlns:a="http://schemas.openxmlformats.org/drawingml/2006/main">
              <a:ext uri="{FF2B5EF4-FFF2-40B4-BE49-F238E27FC236}">
                <a16:creationId xmlns:a16="http://schemas.microsoft.com/office/drawing/2014/main" id="{0BED2F87-3342-46AF-AE65-776BD05B9112}"/>
              </a:ext>
            </a:extLst>
          </p:cNvPr>
          <p:cNvSpPr/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/>
        </p:txBody>
      </p:sp>
      <p:sp>
        <p:nvSpPr>
          <p:cNvPr id="3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DDCA522D-D223-4795-BD87-9D1665A5619D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8DB3E96E-9B54-4AA9-B40A-87CAB39A42E7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B00EECD-862A-4DAB-A855-D50DE5A01703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cbd2296305394ea6" /><Relationship Type="http://schemas.openxmlformats.org/officeDocument/2006/relationships/slideLayout" Target="/ppt/slideLayouts/slideLayout2.xml" Id="R7061217426ed459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15A62FCE-0EB1-404F-9B86-1157896F3083}"/>
              </a:ext>
            </a:extLst>
          </p:cNvPr>
          <p:cNvSpPr/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061217426ed459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b766d5e57124356" /><Relationship Type="http://schemas.openxmlformats.org/officeDocument/2006/relationships/image" Target="/ppt/media/image.png" Id="R2728ba6b814745f8" /><Relationship Type="http://schemas.openxmlformats.org/officeDocument/2006/relationships/notesSlide" Target="/ppt/notesSlides/notesSlide1.xml" Id="R5d4ba610186d4a8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53e79cdd36e4fdc" /><Relationship Type="http://schemas.openxmlformats.org/officeDocument/2006/relationships/image" Target="/ppt/media/image2.png" Id="R2c8c744035c941cc" /><Relationship Type="http://schemas.openxmlformats.org/officeDocument/2006/relationships/notesSlide" Target="/ppt/notesSlides/notesSlide2.xml" Id="R6733018e23bd441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cff26fcb3824efe" /><Relationship Type="http://schemas.openxmlformats.org/officeDocument/2006/relationships/image" Target="/ppt/media/image3.png" Id="Rb0fa6f6a8d0b4528" /><Relationship Type="http://schemas.openxmlformats.org/officeDocument/2006/relationships/notesSlide" Target="/ppt/notesSlides/notesSlide3.xml" Id="R2fd99f5c7fa2416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b6645c2a8f6458c" /><Relationship Type="http://schemas.openxmlformats.org/officeDocument/2006/relationships/image" Target="/ppt/media/image4.png" Id="R4c72d97da00d4c38" /><Relationship Type="http://schemas.openxmlformats.org/officeDocument/2006/relationships/notesSlide" Target="/ppt/notesSlides/notesSlide4.xml" Id="R1ad69af25ec8424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7a9f184ddb74057" /><Relationship Type="http://schemas.openxmlformats.org/officeDocument/2006/relationships/image" Target="/ppt/media/image5.png" Id="R531f874fdeed43e1" /><Relationship Type="http://schemas.openxmlformats.org/officeDocument/2006/relationships/notesSlide" Target="/ppt/notesSlides/notesSlide5.xml" Id="R43b00ebf43f6410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762deb72f8c48d6" /><Relationship Type="http://schemas.openxmlformats.org/officeDocument/2006/relationships/image" Target="/ppt/media/image6.png" Id="R95e1a791185a44ed" /><Relationship Type="http://schemas.openxmlformats.org/officeDocument/2006/relationships/notesSlide" Target="/ppt/notesSlides/notesSlide6.xml" Id="Rcdff9440f5c4445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B00EECD-862A-4DAB-A855-D50DE5A0170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728ba6b814745f8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D2BBD22-F10A-408A-AF26-15604AB05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8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91EA0C-5D83-4410-ADF0-44876A035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66675" cy="433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7586B66-C34B-4643-A2AF-96E4AE146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838200"/>
            <a:ext cx="4953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6B49"/>
                </a:solidFill>
              </a:defRPr>
            </a:pPr>
            <a:r>
              <a:rPr sz="975" b="1">
                <a:solidFill>
                  <a:srgbClr val="116B49"/>
                </a:solidFill>
              </a:rPr>
              <a:t>ПРЕЗЕНТАЦИЯ ПРОЕКТА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C1F493-3096-4135-BDF3-86D7987C5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238250"/>
            <a:ext cx="7477125" cy="1752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01214"/>
                </a:solidFill>
              </a:defRPr>
            </a:pPr>
            <a:r>
              <a:rPr sz="3600" b="1">
                <a:solidFill>
                  <a:srgbClr val="101214"/>
                </a:solidFill>
              </a:rPr>
              <a:t>MyOwnIDE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6E7361-FB95-4113-88F4-73D8208C1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05150"/>
            <a:ext cx="58102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30363A"/>
                </a:solidFill>
              </a:defRPr>
            </a:pPr>
            <a:r>
              <a:rPr sz="1500" b="0">
                <a:solidFill>
                  <a:srgbClr val="30363A"/>
                </a:solidFill>
              </a:rPr>
              <a:t>Браузерная IDE для быстрого запуска кода, анализа асимптотики и стресс-тестов.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E84CB4-9A45-4EFA-8A82-F059EA399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343400"/>
            <a:ext cx="37147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17F2ADB-4FFF-4072-B286-762B68FDC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552950"/>
            <a:ext cx="32004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1214"/>
                </a:solidFill>
              </a:defRPr>
            </a:pPr>
            <a:r>
              <a:rPr sz="1725" b="1">
                <a:solidFill>
                  <a:srgbClr val="101214"/>
                </a:solidFill>
              </a:rPr>
              <a:t>Один браузерный инструмент для написания, проверки и валидации решений.</a:t>
            </a:r>
          </a:p>
        </p:txBody>
      </p:sp>
    </p:spTree>
    <p:extLst>
      <p:ext uri="{BB962C8B-B14F-4D97-AF65-F5344CB8AC3E}">
        <p14:creationId xmlns:p14="http://schemas.microsoft.com/office/powerpoint/2010/main" val="124498026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B00EECD-862A-4DAB-A855-D50DE5A0170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c8c744035c941cc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5A2D19-44BF-4743-BAF4-C5F7EF111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215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0DFD60-01B7-4EEB-BC94-2ADE8F817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6B49"/>
                </a:solidFill>
              </a:defRPr>
            </a:pPr>
            <a:r>
              <a:rPr sz="975" b="1">
                <a:solidFill>
                  <a:srgbClr val="116B49"/>
                </a:solidFill>
              </a:rPr>
              <a:t>ПОЧЕМУ ЭТО ВАЖНО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E8FB19-7BCA-41FB-9363-48D136F5F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323850"/>
            <a:ext cx="990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16B49"/>
                </a:solidFill>
              </a:defRPr>
            </a:pPr>
            <a:r>
              <a:rPr sz="975" b="1">
                <a:solidFill>
                  <a:srgbClr val="116B49"/>
                </a:solidFill>
              </a:rPr>
              <a:t>02 / 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CE69A3-E98B-40CC-8361-143F2B063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2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99257B7-0E7F-4F39-A155-BAF49238A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429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19050">
            <a:solidFill>
              <a:srgbClr val="10121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269131-885B-4DCE-A670-8B5C69FB0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72390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1214"/>
                </a:solidFill>
              </a:defRPr>
            </a:pPr>
            <a:r>
              <a:rPr sz="3000" b="1">
                <a:solidFill>
                  <a:srgbClr val="101214"/>
                </a:solidFill>
              </a:rPr>
              <a:t>Какую проблему решает проект?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F098F34-2E98-42E2-990C-3C310C80A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28850"/>
            <a:ext cx="6858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0363A"/>
                </a:solidFill>
              </a:defRPr>
            </a:pPr>
            <a:r>
              <a:rPr sz="1425" b="0">
                <a:solidFill>
                  <a:srgbClr val="30363A"/>
                </a:solidFill>
              </a:rPr>
              <a:t>Для олимпиадного программирования и обучения нужен более быстрый и удобный цикл обратной связи, чем у обычного онлайн-компилятора.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F00616C-9B2A-48E8-8021-1974BE138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57650"/>
            <a:ext cx="3384550" cy="16764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A909949-999E-497B-AC14-DB1E31BC9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57650"/>
            <a:ext cx="7620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9F4FA82-8619-4E47-9DC1-363DFCBCD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2862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33DCEFB-46CF-4E9A-9F4E-5011EED9C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562475"/>
            <a:ext cx="571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3FB8672-B0F9-40D8-85C7-8EAF7D806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4486275"/>
            <a:ext cx="57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DB4E631-4168-4986-BF49-2159BD299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419600"/>
            <a:ext cx="571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9A326EA-4EE9-49D1-BDCE-4FFB6B3B4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426720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6B49"/>
                </a:solidFill>
              </a:defRPr>
            </a:pPr>
            <a:r>
              <a:rPr sz="1125" b="1">
                <a:solidFill>
                  <a:srgbClr val="116B49"/>
                </a:solidFill>
              </a:rPr>
              <a:t>Разрозненный процесс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1652DBD-7EFB-4050-B74A-6F9B5C180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876800"/>
            <a:ext cx="29273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01214"/>
                </a:solidFill>
              </a:defRPr>
            </a:pPr>
            <a:r>
              <a:rPr sz="1050" b="0">
                <a:solidFill>
                  <a:srgbClr val="101214"/>
                </a:solidFill>
              </a:rPr>
              <a:t>Пользователь переключается</a:t>
            </a:r>
          </a:p>
          <a:p xmlns:a="http://schemas.openxmlformats.org/drawingml/2006/main">
            <a:pPr algn="l">
              <a:defRPr sz="1050" b="0">
                <a:solidFill>
                  <a:srgbClr val="101214"/>
                </a:solidFill>
              </a:defRPr>
            </a:pPr>
            <a:r>
              <a:rPr sz="1050" b="0">
                <a:solidFill>
                  <a:srgbClr val="101214"/>
                </a:solidFill>
              </a:rPr>
              <a:t>между компилятором,</a:t>
            </a:r>
          </a:p>
          <a:p xmlns:a="http://schemas.openxmlformats.org/drawingml/2006/main">
            <a:pPr algn="l">
              <a:defRPr sz="1050" b="0">
                <a:solidFill>
                  <a:srgbClr val="101214"/>
                </a:solidFill>
              </a:defRPr>
            </a:pPr>
            <a:r>
              <a:rPr sz="1050" b="0">
                <a:solidFill>
                  <a:srgbClr val="101214"/>
                </a:solidFill>
              </a:rPr>
              <a:t>заметками, сложностью и</a:t>
            </a:r>
          </a:p>
          <a:p xmlns:a="http://schemas.openxmlformats.org/drawingml/2006/main">
            <a:pPr algn="l">
              <a:defRPr sz="1050" b="0">
                <a:solidFill>
                  <a:srgbClr val="101214"/>
                </a:solidFill>
              </a:defRPr>
            </a:pPr>
            <a:r>
              <a:rPr sz="1050" b="0">
                <a:solidFill>
                  <a:srgbClr val="101214"/>
                </a:solidFill>
              </a:rPr>
              <a:t>ручными тестами.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813A108-7E74-4EC7-BB04-A851E4A17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4057650"/>
            <a:ext cx="3384550" cy="16764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0EBFFE9-058A-47D8-8608-E183467B8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4057650"/>
            <a:ext cx="7620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2372534-39A2-4CFE-A1A7-C06E23E93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2800" y="42862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EA5A090-B474-4B5D-A9C1-255B11B5E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6625" y="44577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4166559-D112-4B00-80C6-CA632FEDF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8075" y="45434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E6B751A-D8EC-4847-A5EB-978B06A0E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2350" y="4524375"/>
            <a:ext cx="1809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2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2FEEB90-2E35-4B27-ABB9-4454C5C17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1450" y="426720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6B49"/>
                </a:solidFill>
              </a:defRPr>
            </a:pPr>
            <a:r>
              <a:rPr sz="1125" b="1">
                <a:solidFill>
                  <a:srgbClr val="116B49"/>
                </a:solidFill>
              </a:rPr>
              <a:t>Слабая проверка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6982C2A-E8EF-4CC9-ADB5-43CC7D84B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1850" y="4876800"/>
            <a:ext cx="29273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01214"/>
                </a:solidFill>
              </a:defRPr>
            </a:pPr>
            <a:r>
              <a:rPr sz="1050" b="0">
                <a:solidFill>
                  <a:srgbClr val="101214"/>
                </a:solidFill>
              </a:rPr>
              <a:t>Решение может пройти пример,</a:t>
            </a:r>
          </a:p>
          <a:p xmlns:a="http://schemas.openxmlformats.org/drawingml/2006/main">
            <a:pPr algn="l">
              <a:defRPr sz="1050" b="0">
                <a:solidFill>
                  <a:srgbClr val="101214"/>
                </a:solidFill>
              </a:defRPr>
            </a:pPr>
            <a:r>
              <a:rPr sz="1050" b="0">
                <a:solidFill>
                  <a:srgbClr val="101214"/>
                </a:solidFill>
              </a:rPr>
              <a:t>но упасть на пустом массиве,</a:t>
            </a:r>
          </a:p>
          <a:p xmlns:a="http://schemas.openxmlformats.org/drawingml/2006/main">
            <a:pPr algn="l">
              <a:defRPr sz="1050" b="0">
                <a:solidFill>
                  <a:srgbClr val="101214"/>
                </a:solidFill>
              </a:defRPr>
            </a:pPr>
            <a:r>
              <a:rPr sz="1050" b="0">
                <a:solidFill>
                  <a:srgbClr val="101214"/>
                </a:solidFill>
              </a:rPr>
              <a:t>дубликатах или отрицательных</a:t>
            </a:r>
          </a:p>
          <a:p xmlns:a="http://schemas.openxmlformats.org/drawingml/2006/main">
            <a:pPr algn="l">
              <a:defRPr sz="1050" b="0">
                <a:solidFill>
                  <a:srgbClr val="101214"/>
                </a:solidFill>
              </a:defRPr>
            </a:pPr>
            <a:r>
              <a:rPr sz="1050" b="0">
                <a:solidFill>
                  <a:srgbClr val="101214"/>
                </a:solidFill>
              </a:rPr>
              <a:t>числах.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3595896-42C3-47DE-8171-ADE31A9A7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4057650"/>
            <a:ext cx="3384550" cy="16764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2A4B58D-74CC-4BB3-802A-AB4CD65AB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4057650"/>
            <a:ext cx="7620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0B97910-842C-4816-A75D-7B5C60ED5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5950" y="42862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5C3C3E4-1821-44C7-A714-E19594DB4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9775" y="4429125"/>
            <a:ext cx="24765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7C47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49190B3-3EEF-410E-90AE-090494F0C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7400" y="4514850"/>
            <a:ext cx="24765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A83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E41CDEC-E6E4-4402-AFFE-8316009C6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5025" y="4600575"/>
            <a:ext cx="1905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6F5B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381CA9C-FE94-4EF8-A939-B1CDB0E10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4600" y="426720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6B49"/>
                </a:solidFill>
              </a:defRPr>
            </a:pPr>
            <a:r>
              <a:rPr sz="1125" b="1">
                <a:solidFill>
                  <a:srgbClr val="116B49"/>
                </a:solidFill>
              </a:rPr>
              <a:t>Медленная итерация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B49064B-9C7B-44A8-A56E-2F8A616CA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0" y="4876800"/>
            <a:ext cx="29273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01214"/>
                </a:solidFill>
              </a:defRPr>
            </a:pPr>
            <a:r>
              <a:rPr sz="1050" b="0">
                <a:solidFill>
                  <a:srgbClr val="101214"/>
                </a:solidFill>
              </a:rPr>
              <a:t>При медленной обратной связи</a:t>
            </a:r>
          </a:p>
          <a:p xmlns:a="http://schemas.openxmlformats.org/drawingml/2006/main">
            <a:pPr algn="l">
              <a:defRPr sz="1050" b="0">
                <a:solidFill>
                  <a:srgbClr val="101214"/>
                </a:solidFill>
              </a:defRPr>
            </a:pPr>
            <a:r>
              <a:rPr sz="1050" b="0">
                <a:solidFill>
                  <a:srgbClr val="101214"/>
                </a:solidFill>
              </a:rPr>
              <a:t>время уходит не на алгоритм,</a:t>
            </a:r>
          </a:p>
          <a:p xmlns:a="http://schemas.openxmlformats.org/drawingml/2006/main">
            <a:pPr algn="l">
              <a:defRPr sz="1050" b="0">
                <a:solidFill>
                  <a:srgbClr val="101214"/>
                </a:solidFill>
              </a:defRPr>
            </a:pPr>
            <a:r>
              <a:rPr sz="1050" b="0">
                <a:solidFill>
                  <a:srgbClr val="101214"/>
                </a:solidFill>
              </a:rPr>
              <a:t>а на техническую отладку.</a:t>
            </a:r>
          </a:p>
        </p:txBody>
      </p:sp>
    </p:spTree>
    <p:extLst>
      <p:ext uri="{BB962C8B-B14F-4D97-AF65-F5344CB8AC3E}">
        <p14:creationId xmlns:p14="http://schemas.microsoft.com/office/powerpoint/2010/main" val="156620590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B00EECD-862A-4DAB-A855-D50DE5A0170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0fa6f6a8d0b4528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D7E226-F911-4E8D-8514-CB287EB4B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4118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860D9C-72A3-4B27-9BDA-40D852E47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6B49"/>
                </a:solidFill>
              </a:defRPr>
            </a:pPr>
            <a:r>
              <a:rPr sz="975" b="1">
                <a:solidFill>
                  <a:srgbClr val="116B49"/>
                </a:solidFill>
              </a:rPr>
              <a:t>ОСНОВА ПРОДУКТА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AFBCA4-6F01-487D-9339-9A489C05F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323850"/>
            <a:ext cx="990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16B49"/>
                </a:solidFill>
              </a:defRPr>
            </a:pPr>
            <a:r>
              <a:rPr sz="975" b="1">
                <a:solidFill>
                  <a:srgbClr val="116B49"/>
                </a:solidFill>
              </a:rPr>
              <a:t>03 / 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1F50F3-EB36-43F2-AD72-92CAECC47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2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DCA1205-2C9E-4B1F-94BE-88E7FF7E4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429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19050">
            <a:solidFill>
              <a:srgbClr val="10121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42C150F-BA13-4B9B-93C7-16C7BD0AA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66675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1214"/>
                </a:solidFill>
              </a:defRPr>
            </a:pPr>
            <a:r>
              <a:rPr sz="3000" b="1">
                <a:solidFill>
                  <a:srgbClr val="101214"/>
                </a:solidFill>
              </a:rPr>
              <a:t>Что умеет MyOwnIDE сейчас?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9AB564F-3283-4D27-BBE6-BE976C024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28850"/>
            <a:ext cx="6667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0363A"/>
                </a:solidFill>
              </a:defRPr>
            </a:pPr>
            <a:r>
              <a:rPr sz="1425" b="0">
                <a:solidFill>
                  <a:srgbClr val="30363A"/>
                </a:solidFill>
              </a:rPr>
              <a:t>Текущая версия сосредоточена на трёх полезных действиях, которые реально ускоряют решение задач.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0CF9A04-88F0-4537-8DFF-C1F722987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48100"/>
            <a:ext cx="3143250" cy="165735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C70FBD9-524E-45B5-B813-7E37A211D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48100"/>
            <a:ext cx="31432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32A4AF7-DE96-4515-AFBB-085515709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076700"/>
            <a:ext cx="27241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1214"/>
                </a:solidFill>
              </a:defRPr>
            </a:pPr>
            <a:r>
              <a:rPr sz="2550" b="1">
                <a:solidFill>
                  <a:srgbClr val="101214"/>
                </a:solidFill>
              </a:rPr>
              <a:t>Run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B750D56-68E5-45A7-931E-21EE703D0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629150"/>
            <a:ext cx="2686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0363A"/>
                </a:solidFill>
              </a:defRPr>
            </a:pPr>
            <a:r>
              <a:rPr sz="1200" b="0">
                <a:solidFill>
                  <a:srgbClr val="30363A"/>
                </a:solidFill>
              </a:rPr>
              <a:t>Запуск кода в браузере на нескольких языках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C251D42-6058-4FDF-8058-50DF845F6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105400"/>
            <a:ext cx="2686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076"/>
                </a:solidFill>
              </a:defRPr>
            </a:pPr>
            <a:r>
              <a:rPr sz="750" b="0">
                <a:solidFill>
                  <a:srgbClr val="687076"/>
                </a:solidFill>
              </a:rPr>
              <a:t>Интеграция с Judge0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014A27C-F737-4391-B493-23D84EEC8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848100"/>
            <a:ext cx="3143250" cy="165735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1B8D987-9BC5-487F-BC59-3CC9B58FD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848100"/>
            <a:ext cx="31432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A8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D66D701-8F02-46F6-9FE3-D4E400BC7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4076700"/>
            <a:ext cx="27241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1214"/>
                </a:solidFill>
              </a:defRPr>
            </a:pPr>
            <a:r>
              <a:rPr sz="2550" b="1">
                <a:solidFill>
                  <a:srgbClr val="101214"/>
                </a:solidFill>
              </a:rPr>
              <a:t>O(...)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7C8EFF2-BF81-4D56-A65F-701CBF638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629150"/>
            <a:ext cx="2686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0363A"/>
                </a:solidFill>
              </a:defRPr>
            </a:pPr>
            <a:r>
              <a:rPr sz="1200" b="0">
                <a:solidFill>
                  <a:srgbClr val="30363A"/>
                </a:solidFill>
              </a:rPr>
              <a:t>Оценка асимптотики через ИИ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6D75F67-3D8D-4B13-A563-F7A8D721D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5105400"/>
            <a:ext cx="2686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076"/>
                </a:solidFill>
              </a:defRPr>
            </a:pPr>
            <a:r>
              <a:rPr sz="750" b="0">
                <a:solidFill>
                  <a:srgbClr val="687076"/>
                </a:solidFill>
              </a:rPr>
              <a:t>Анализ в один клик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703335E-75D2-4B49-AC6B-7883EDDF8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848100"/>
            <a:ext cx="3143250" cy="165735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F49A6A1-B3C8-4D9E-B8BB-0185BF1C0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848100"/>
            <a:ext cx="31432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6F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C8E754E-13CC-4FE8-B180-327BBC523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076700"/>
            <a:ext cx="27241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1214"/>
                </a:solidFill>
              </a:defRPr>
            </a:pPr>
            <a:r>
              <a:rPr sz="2550" b="1">
                <a:solidFill>
                  <a:srgbClr val="101214"/>
                </a:solidFill>
              </a:rPr>
              <a:t>10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E6CDCD5-EAD8-416D-A4F4-73EF1479A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629150"/>
            <a:ext cx="2686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0363A"/>
                </a:solidFill>
              </a:defRPr>
            </a:pPr>
            <a:r>
              <a:rPr sz="1200" b="0">
                <a:solidFill>
                  <a:srgbClr val="30363A"/>
                </a:solidFill>
              </a:rPr>
              <a:t>Готовые пресеты стресс-тестов для важных крайних случаев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5984A4B-1902-49CC-8275-D3F540D64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5105400"/>
            <a:ext cx="2686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076"/>
                </a:solidFill>
              </a:defRPr>
            </a:pPr>
            <a:r>
              <a:rPr sz="750" b="0">
                <a:solidFill>
                  <a:srgbClr val="687076"/>
                </a:solidFill>
              </a:rPr>
              <a:t>Встроено прямо в интерфейс</a:t>
            </a:r>
          </a:p>
        </p:txBody>
      </p:sp>
    </p:spTree>
    <p:extLst>
      <p:ext uri="{BB962C8B-B14F-4D97-AF65-F5344CB8AC3E}">
        <p14:creationId xmlns:p14="http://schemas.microsoft.com/office/powerpoint/2010/main" val="8601603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B00EECD-862A-4DAB-A855-D50DE5A0170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c72d97da00d4c38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2443E8B-F4C6-47D5-800F-EAB4F2A63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215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E506F5-D671-4900-8222-14BC6ED94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6B49"/>
                </a:solidFill>
              </a:defRPr>
            </a:pPr>
            <a:r>
              <a:rPr sz="975" b="1">
                <a:solidFill>
                  <a:srgbClr val="116B49"/>
                </a:solidFill>
              </a:rPr>
              <a:t>ТЕХНИЧЕСКАЯ ЧАСТЬ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3C3BB76-3642-4014-8876-D059ABE8B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323850"/>
            <a:ext cx="990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16B49"/>
                </a:solidFill>
              </a:defRPr>
            </a:pPr>
            <a:r>
              <a:rPr sz="975" b="1">
                <a:solidFill>
                  <a:srgbClr val="116B49"/>
                </a:solidFill>
              </a:rPr>
              <a:t>04 / 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C7C65B-E66C-494B-8B1F-60D472727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2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A829A3-6693-4B89-8743-0E21F7CF9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429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19050">
            <a:solidFill>
              <a:srgbClr val="10121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21B30F8-B942-4220-B2F5-4731110E6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72390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1214"/>
                </a:solidFill>
              </a:defRPr>
            </a:pPr>
            <a:r>
              <a:rPr sz="3000" b="1">
                <a:solidFill>
                  <a:srgbClr val="101214"/>
                </a:solidFill>
              </a:rPr>
              <a:t>Как устроен проект внутри?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4F324EF-E3DC-4157-BF3E-C286B0B90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28850"/>
            <a:ext cx="6858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0363A"/>
                </a:solidFill>
              </a:defRPr>
            </a:pPr>
            <a:r>
              <a:rPr sz="1425" b="0">
                <a:solidFill>
                  <a:srgbClr val="30363A"/>
                </a:solidFill>
              </a:rPr>
              <a:t>Система объединяет лёгкий фронтенд, удалённое выполнение кода и AI-сервис для анализа.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864756E-2CC0-4382-954A-4F97618E0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57650"/>
            <a:ext cx="3384550" cy="16764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28BC53D-CE1C-40C1-BD0B-E105CA839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57650"/>
            <a:ext cx="7620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52F2E7B-0796-40D8-AA7D-D42FA5A9A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2862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3271553-5074-4A62-8E1B-E8D758109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562475"/>
            <a:ext cx="571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32A1674-0E55-4AAD-8382-1AAE21791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4486275"/>
            <a:ext cx="57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110A484-A922-4A0F-9434-CF93F4336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419600"/>
            <a:ext cx="571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32CE4A9-4FE2-4A67-AE05-00608AB84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426720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6B49"/>
                </a:solidFill>
              </a:defRPr>
            </a:pPr>
            <a:r>
              <a:rPr sz="1125" b="1">
                <a:solidFill>
                  <a:srgbClr val="116B49"/>
                </a:solidFill>
              </a:rPr>
              <a:t>Фронтенд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73925B9-1C83-4211-8780-23D5863B8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876800"/>
            <a:ext cx="29273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01214"/>
                </a:solidFill>
              </a:defRPr>
            </a:pPr>
            <a:r>
              <a:rPr sz="1050" b="0">
                <a:solidFill>
                  <a:srgbClr val="101214"/>
                </a:solidFill>
              </a:rPr>
              <a:t>Интерфейс построен на Monaco</a:t>
            </a:r>
          </a:p>
          <a:p xmlns:a="http://schemas.openxmlformats.org/drawingml/2006/main">
            <a:pPr algn="l">
              <a:defRPr sz="1050" b="0">
                <a:solidFill>
                  <a:srgbClr val="101214"/>
                </a:solidFill>
              </a:defRPr>
            </a:pPr>
            <a:r>
              <a:rPr sz="1050" b="0">
                <a:solidFill>
                  <a:srgbClr val="101214"/>
                </a:solidFill>
              </a:rPr>
              <a:t>Editor и собственной</a:t>
            </a:r>
          </a:p>
          <a:p xmlns:a="http://schemas.openxmlformats.org/drawingml/2006/main">
            <a:pPr algn="l">
              <a:defRPr sz="1050" b="0">
                <a:solidFill>
                  <a:srgbClr val="101214"/>
                </a:solidFill>
              </a:defRPr>
            </a:pPr>
            <a:r>
              <a:rPr sz="1050" b="0">
                <a:solidFill>
                  <a:srgbClr val="101214"/>
                </a:solidFill>
              </a:rPr>
              <a:t>оболочке для быстрого цикла</a:t>
            </a:r>
          </a:p>
          <a:p xmlns:a="http://schemas.openxmlformats.org/drawingml/2006/main">
            <a:pPr algn="l">
              <a:defRPr sz="1050" b="0">
                <a:solidFill>
                  <a:srgbClr val="101214"/>
                </a:solidFill>
              </a:defRPr>
            </a:pPr>
            <a:r>
              <a:rPr sz="1050" b="0">
                <a:solidFill>
                  <a:srgbClr val="101214"/>
                </a:solidFill>
              </a:rPr>
              <a:t>ввода и вывода.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B573744-DA90-4285-BF5F-26296705E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4057650"/>
            <a:ext cx="3384550" cy="16764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4E1FA02-B97B-41FA-A4E2-B3916CB79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4057650"/>
            <a:ext cx="7620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A2009E7-03E5-4780-A3B2-D0814E531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2800" y="42862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4794542-67B2-4455-BE5F-969B099AB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6625" y="44577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EB8C468-D972-4379-8E54-9783A8F2F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8075" y="45434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53EB720-7A79-4D9E-9072-F9430026C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2350" y="4524375"/>
            <a:ext cx="1809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2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0F14BF9-0596-42DB-8A61-FCCD097DD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1450" y="426720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6B49"/>
                </a:solidFill>
              </a:defRPr>
            </a:pPr>
            <a:r>
              <a:rPr sz="1125" b="1">
                <a:solidFill>
                  <a:srgbClr val="116B49"/>
                </a:solidFill>
              </a:rPr>
              <a:t>Бэкенд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505109B-FA00-4076-89BE-1BE666E03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1850" y="4876800"/>
            <a:ext cx="29273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01214"/>
                </a:solidFill>
              </a:defRPr>
            </a:pPr>
            <a:r>
              <a:rPr sz="1050" b="0">
                <a:solidFill>
                  <a:srgbClr val="101214"/>
                </a:solidFill>
              </a:rPr>
              <a:t>Node.js и Express связывают</a:t>
            </a:r>
          </a:p>
          <a:p xmlns:a="http://schemas.openxmlformats.org/drawingml/2006/main">
            <a:pPr algn="l">
              <a:defRPr sz="1050" b="0">
                <a:solidFill>
                  <a:srgbClr val="101214"/>
                </a:solidFill>
              </a:defRPr>
            </a:pPr>
            <a:r>
              <a:rPr sz="1050" b="0">
                <a:solidFill>
                  <a:srgbClr val="101214"/>
                </a:solidFill>
              </a:rPr>
              <a:t>интерфейс с Judge0 для</a:t>
            </a:r>
          </a:p>
          <a:p xmlns:a="http://schemas.openxmlformats.org/drawingml/2006/main">
            <a:pPr algn="l">
              <a:defRPr sz="1050" b="0">
                <a:solidFill>
                  <a:srgbClr val="101214"/>
                </a:solidFill>
              </a:defRPr>
            </a:pPr>
            <a:r>
              <a:rPr sz="1050" b="0">
                <a:solidFill>
                  <a:srgbClr val="101214"/>
                </a:solidFill>
              </a:rPr>
              <a:t>запуска кода и с ИИ для</a:t>
            </a:r>
          </a:p>
          <a:p xmlns:a="http://schemas.openxmlformats.org/drawingml/2006/main">
            <a:pPr algn="l">
              <a:defRPr sz="1050" b="0">
                <a:solidFill>
                  <a:srgbClr val="101214"/>
                </a:solidFill>
              </a:defRPr>
            </a:pPr>
            <a:r>
              <a:rPr sz="1050" b="0">
                <a:solidFill>
                  <a:srgbClr val="101214"/>
                </a:solidFill>
              </a:rPr>
              <a:t>анализа асимптотики.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5AD20AE-7CC5-4C04-B02B-C8175BA21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4057650"/>
            <a:ext cx="3384550" cy="16764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8FA6EED-9CA5-4029-A639-38C2E5160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4057650"/>
            <a:ext cx="7620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2472A9E-4CC9-4A08-8E30-48F2ADA68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5950" y="42862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42452D2-572A-41F5-A814-CA85C24B1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9775" y="4429125"/>
            <a:ext cx="24765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7C47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F42CAE7-A5C0-41EC-B325-F3DDD0A1B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7400" y="4514850"/>
            <a:ext cx="24765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A83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9C60188-B186-407C-B25A-6568FFE7A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5025" y="4600575"/>
            <a:ext cx="1905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6F5B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E061378-F5A4-4524-BD62-747E4A736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4600" y="426720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6B49"/>
                </a:solidFill>
              </a:defRPr>
            </a:pPr>
            <a:r>
              <a:rPr sz="1125" b="1">
                <a:solidFill>
                  <a:srgbClr val="116B49"/>
                </a:solidFill>
              </a:rPr>
              <a:t>Деплой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F8FB2E1-FB38-4A94-8EDE-C15F8C23A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0" y="4876800"/>
            <a:ext cx="29273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01214"/>
                </a:solidFill>
              </a:defRPr>
            </a:pPr>
            <a:r>
              <a:rPr sz="1050" b="0">
                <a:solidFill>
                  <a:srgbClr val="101214"/>
                </a:solidFill>
              </a:rPr>
              <a:t>Проект опубликован на</a:t>
            </a:r>
          </a:p>
          <a:p xmlns:a="http://schemas.openxmlformats.org/drawingml/2006/main">
            <a:pPr algn="l">
              <a:defRPr sz="1050" b="0">
                <a:solidFill>
                  <a:srgbClr val="101214"/>
                </a:solidFill>
              </a:defRPr>
            </a:pPr>
            <a:r>
              <a:rPr sz="1050" b="0">
                <a:solidFill>
                  <a:srgbClr val="101214"/>
                </a:solidFill>
              </a:rPr>
              <a:t>sproga.xyz через Cloudflare</a:t>
            </a:r>
          </a:p>
          <a:p xmlns:a="http://schemas.openxmlformats.org/drawingml/2006/main">
            <a:pPr algn="l">
              <a:defRPr sz="1050" b="0">
                <a:solidFill>
                  <a:srgbClr val="101214"/>
                </a:solidFill>
              </a:defRPr>
            </a:pPr>
            <a:r>
              <a:rPr sz="1050" b="0">
                <a:solidFill>
                  <a:srgbClr val="101214"/>
                </a:solidFill>
              </a:rPr>
              <a:t>Tunnel и может работать даже</a:t>
            </a:r>
          </a:p>
          <a:p xmlns:a="http://schemas.openxmlformats.org/drawingml/2006/main">
            <a:pPr algn="l">
              <a:defRPr sz="1050" b="0">
                <a:solidFill>
                  <a:srgbClr val="101214"/>
                </a:solidFill>
              </a:defRPr>
            </a:pPr>
            <a:r>
              <a:rPr sz="1050" b="0">
                <a:solidFill>
                  <a:srgbClr val="101214"/>
                </a:solidFill>
              </a:rPr>
              <a:t>с домашнего компьютера.</a:t>
            </a:r>
          </a:p>
        </p:txBody>
      </p:sp>
    </p:spTree>
    <p:extLst>
      <p:ext uri="{BB962C8B-B14F-4D97-AF65-F5344CB8AC3E}">
        <p14:creationId xmlns:p14="http://schemas.microsoft.com/office/powerpoint/2010/main" val="75144164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B00EECD-862A-4DAB-A855-D50DE5A0170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31f874fdeed43e1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1710A5-60A2-426A-8E73-BA1CEC651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215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B2C203-1733-4C9B-A62C-295A64CB1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6B49"/>
                </a:solidFill>
              </a:defRPr>
            </a:pPr>
            <a:r>
              <a:rPr sz="975" b="1">
                <a:solidFill>
                  <a:srgbClr val="116B49"/>
                </a:solidFill>
              </a:rPr>
              <a:t>ЖИВАЯ ДЕМОНСТРАЦИЯ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519A002-1CEB-4231-8D13-8CC83E970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323850"/>
            <a:ext cx="990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16B49"/>
                </a:solidFill>
              </a:defRPr>
            </a:pPr>
            <a:r>
              <a:rPr sz="975" b="1">
                <a:solidFill>
                  <a:srgbClr val="116B49"/>
                </a:solidFill>
              </a:rPr>
              <a:t>05 / 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47ADF7-B8F1-4C4A-A0B1-18487B314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2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892F5B4-D91F-425F-887C-351B23DA4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429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19050">
            <a:solidFill>
              <a:srgbClr val="10121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F222536-6D35-4F72-8C89-A15978245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72390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1214"/>
                </a:solidFill>
              </a:defRPr>
            </a:pPr>
            <a:r>
              <a:rPr sz="3000" b="1">
                <a:solidFill>
                  <a:srgbClr val="101214"/>
                </a:solidFill>
              </a:rPr>
              <a:t>Что показать жюри за 60-90 секунд?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ED318A9-5D95-4F1A-B99C-5F1BD0D87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28850"/>
            <a:ext cx="6858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0363A"/>
                </a:solidFill>
              </a:defRPr>
            </a:pPr>
            <a:r>
              <a:rPr sz="1425" b="0">
                <a:solidFill>
                  <a:srgbClr val="30363A"/>
                </a:solidFill>
              </a:rPr>
              <a:t>Короткой демонстрации достаточно, чтобы доказать практическую пользу и готовность продукта.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CBA722C-498D-431C-88C4-7637F91B8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57650"/>
            <a:ext cx="3384550" cy="16764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2F592C3-CF05-418A-B879-16452E212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57650"/>
            <a:ext cx="7620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22F791D-7086-46E8-BA4D-227C52B54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2862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939FE82-E7A6-4AE2-AD1F-0B5D16640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562475"/>
            <a:ext cx="571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9F0488D-24D2-4BC6-8E7F-A43F55527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4486275"/>
            <a:ext cx="57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B17584D-E9E2-44CA-A710-CD2F409CA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419600"/>
            <a:ext cx="571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B74E425-07BE-4160-B967-8D68E1703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426720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6B49"/>
                </a:solidFill>
              </a:defRPr>
            </a:pPr>
            <a:r>
              <a:rPr sz="1125" b="1">
                <a:solidFill>
                  <a:srgbClr val="116B49"/>
                </a:solidFill>
              </a:rPr>
              <a:t>Шаг 1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BD531B6-11F3-4BE9-8670-2D2569143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876800"/>
            <a:ext cx="29273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01214"/>
                </a:solidFill>
              </a:defRPr>
            </a:pPr>
            <a:r>
              <a:rPr sz="1050" b="0">
                <a:solidFill>
                  <a:srgbClr val="101214"/>
                </a:solidFill>
              </a:rPr>
              <a:t>Открыть sproga.xyz и</a:t>
            </a:r>
          </a:p>
          <a:p xmlns:a="http://schemas.openxmlformats.org/drawingml/2006/main">
            <a:pPr algn="l">
              <a:defRPr sz="1050" b="0">
                <a:solidFill>
                  <a:srgbClr val="101214"/>
                </a:solidFill>
              </a:defRPr>
            </a:pPr>
            <a:r>
              <a:rPr sz="1050" b="0">
                <a:solidFill>
                  <a:srgbClr val="101214"/>
                </a:solidFill>
              </a:rPr>
              <a:t>показать редактор, ввод,</a:t>
            </a:r>
          </a:p>
          <a:p xmlns:a="http://schemas.openxmlformats.org/drawingml/2006/main">
            <a:pPr algn="l">
              <a:defRPr sz="1050" b="0">
                <a:solidFill>
                  <a:srgbClr val="101214"/>
                </a:solidFill>
              </a:defRPr>
            </a:pPr>
            <a:r>
              <a:rPr sz="1050" b="0">
                <a:solidFill>
                  <a:srgbClr val="101214"/>
                </a:solidFill>
              </a:rPr>
              <a:t>вывод, асимптотику и</a:t>
            </a:r>
          </a:p>
          <a:p xmlns:a="http://schemas.openxmlformats.org/drawingml/2006/main">
            <a:pPr algn="l">
              <a:defRPr sz="1050" b="0">
                <a:solidFill>
                  <a:srgbClr val="101214"/>
                </a:solidFill>
              </a:defRPr>
            </a:pPr>
            <a:r>
              <a:rPr sz="1050" b="0">
                <a:solidFill>
                  <a:srgbClr val="101214"/>
                </a:solidFill>
              </a:rPr>
              <a:t>стресс-пресеты.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825128C-5C3A-46D1-9D0B-987402B28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4057650"/>
            <a:ext cx="3384550" cy="16764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A468E95-6E04-48B9-8BFC-998EA4BAE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4057650"/>
            <a:ext cx="7620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F4BE694-F610-4F7C-9BFB-052694BA0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2800" y="42862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CB53BE9-D54A-4FD9-81E0-33E9213F8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6625" y="44577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9CB3FD7-8DF7-45A3-9006-B1778AA1A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8075" y="45434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C88F2F8-9C85-49E1-9A78-5158E1A50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2350" y="4524375"/>
            <a:ext cx="1809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2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132367F-101C-4DC0-8A68-AE871207F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1450" y="426720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6B49"/>
                </a:solidFill>
              </a:defRPr>
            </a:pPr>
            <a:r>
              <a:rPr sz="1125" b="1">
                <a:solidFill>
                  <a:srgbClr val="116B49"/>
                </a:solidFill>
              </a:rPr>
              <a:t>Шаг 2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0FF251F-627A-4676-B677-15937133D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1850" y="4876800"/>
            <a:ext cx="29273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01214"/>
                </a:solidFill>
              </a:defRPr>
            </a:pPr>
            <a:r>
              <a:rPr sz="1050" b="0">
                <a:solidFill>
                  <a:srgbClr val="101214"/>
                </a:solidFill>
              </a:rPr>
              <a:t>Запустить простую задачу на</a:t>
            </a:r>
          </a:p>
          <a:p xmlns:a="http://schemas.openxmlformats.org/drawingml/2006/main">
            <a:pPr algn="l">
              <a:defRPr sz="1050" b="0">
                <a:solidFill>
                  <a:srgbClr val="101214"/>
                </a:solidFill>
              </a:defRPr>
            </a:pPr>
            <a:r>
              <a:rPr sz="1050" b="0">
                <a:solidFill>
                  <a:srgbClr val="101214"/>
                </a:solidFill>
              </a:rPr>
              <a:t>массив и затем нажать</a:t>
            </a:r>
          </a:p>
          <a:p xmlns:a="http://schemas.openxmlformats.org/drawingml/2006/main">
            <a:pPr algn="l">
              <a:defRPr sz="1050" b="0">
                <a:solidFill>
                  <a:srgbClr val="101214"/>
                </a:solidFill>
              </a:defRPr>
            </a:pPr>
            <a:r>
              <a:rPr sz="1050" b="0">
                <a:solidFill>
                  <a:srgbClr val="101214"/>
                </a:solidFill>
              </a:rPr>
              <a:t>Analyze, чтобы показать</a:t>
            </a:r>
          </a:p>
          <a:p xmlns:a="http://schemas.openxmlformats.org/drawingml/2006/main">
            <a:pPr algn="l">
              <a:defRPr sz="1050" b="0">
                <a:solidFill>
                  <a:srgbClr val="101214"/>
                </a:solidFill>
              </a:defRPr>
            </a:pPr>
            <a:r>
              <a:rPr sz="1050" b="0">
                <a:solidFill>
                  <a:srgbClr val="101214"/>
                </a:solidFill>
              </a:rPr>
              <a:t>оценку сложности.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A726C6D-F57F-46D1-9BE0-1894AFB37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4057650"/>
            <a:ext cx="3384550" cy="16764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91F234C-DE20-4C49-9372-137E77892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4057650"/>
            <a:ext cx="7620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E31D920-C217-47B8-847B-01FF87079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5950" y="42862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CA4FFCF-F711-4723-9E93-B16D06C04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9775" y="4429125"/>
            <a:ext cx="24765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7C47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D180248-0B18-42A4-A630-AC946A40B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7400" y="4514850"/>
            <a:ext cx="24765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A83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9DDEAD1-F2DE-4571-B630-B2E72493D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5025" y="4600575"/>
            <a:ext cx="1905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6F5B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8C76992-2E5C-41BA-B59F-9682C592F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4600" y="426720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6B49"/>
                </a:solidFill>
              </a:defRPr>
            </a:pPr>
            <a:r>
              <a:rPr sz="1125" b="1">
                <a:solidFill>
                  <a:srgbClr val="116B49"/>
                </a:solidFill>
              </a:rPr>
              <a:t>Шаг 3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F317E9E-9141-4811-9894-FDE9932C3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0" y="4876800"/>
            <a:ext cx="29273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01214"/>
                </a:solidFill>
              </a:defRPr>
            </a:pPr>
            <a:r>
              <a:rPr sz="1050" b="0">
                <a:solidFill>
                  <a:srgbClr val="101214"/>
                </a:solidFill>
              </a:rPr>
              <a:t>Сгенерировать крайние</a:t>
            </a:r>
          </a:p>
          <a:p xmlns:a="http://schemas.openxmlformats.org/drawingml/2006/main">
            <a:pPr algn="l">
              <a:defRPr sz="1050" b="0">
                <a:solidFill>
                  <a:srgbClr val="101214"/>
                </a:solidFill>
              </a:defRPr>
            </a:pPr>
            <a:r>
              <a:rPr sz="1050" b="0">
                <a:solidFill>
                  <a:srgbClr val="101214"/>
                </a:solidFill>
              </a:rPr>
              <a:t>случаи: пустой массив, нули,</a:t>
            </a:r>
          </a:p>
          <a:p xmlns:a="http://schemas.openxmlformats.org/drawingml/2006/main">
            <a:pPr algn="l">
              <a:defRPr sz="1050" b="0">
                <a:solidFill>
                  <a:srgbClr val="101214"/>
                </a:solidFill>
              </a:defRPr>
            </a:pPr>
            <a:r>
              <a:rPr sz="1050" b="0">
                <a:solidFill>
                  <a:srgbClr val="101214"/>
                </a:solidFill>
              </a:rPr>
              <a:t>отрицательные числа, рост и</a:t>
            </a:r>
          </a:p>
          <a:p xmlns:a="http://schemas.openxmlformats.org/drawingml/2006/main">
            <a:pPr algn="l">
              <a:defRPr sz="1050" b="0">
                <a:solidFill>
                  <a:srgbClr val="101214"/>
                </a:solidFill>
              </a:defRPr>
            </a:pPr>
            <a:r>
              <a:rPr sz="1050" b="0">
                <a:solidFill>
                  <a:srgbClr val="101214"/>
                </a:solidFill>
              </a:rPr>
              <a:t>спад.</a:t>
            </a:r>
          </a:p>
        </p:txBody>
      </p:sp>
    </p:spTree>
    <p:extLst>
      <p:ext uri="{BB962C8B-B14F-4D97-AF65-F5344CB8AC3E}">
        <p14:creationId xmlns:p14="http://schemas.microsoft.com/office/powerpoint/2010/main" val="10780502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B00EECD-862A-4DAB-A855-D50DE5A0170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5e1a791185a44ed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9500ABC-DD66-4541-AF17-EE6434245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4118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F3900F-5CE4-4A3D-B3BC-9DC3955E7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6B49"/>
                </a:solidFill>
              </a:defRPr>
            </a:pPr>
            <a:r>
              <a:rPr sz="975" b="1">
                <a:solidFill>
                  <a:srgbClr val="116B49"/>
                </a:solidFill>
              </a:rPr>
              <a:t>ЦЕННОСТЬ И РАЗВИТИЕ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A3C731-7E2D-4C7B-AEEF-E65595526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323850"/>
            <a:ext cx="990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16B49"/>
                </a:solidFill>
              </a:defRPr>
            </a:pPr>
            <a:r>
              <a:rPr sz="975" b="1">
                <a:solidFill>
                  <a:srgbClr val="116B49"/>
                </a:solidFill>
              </a:rPr>
              <a:t>06 / 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2040A0F-C17B-4F88-9119-9D8B7E949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2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9D5A81D-839F-4A03-904F-85A0AE6C0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429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19050">
            <a:solidFill>
              <a:srgbClr val="10121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A64D727-7A5F-4971-83CB-5A2564515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66675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1214"/>
                </a:solidFill>
              </a:defRPr>
            </a:pPr>
            <a:r>
              <a:rPr sz="3000" b="1">
                <a:solidFill>
                  <a:srgbClr val="101214"/>
                </a:solidFill>
              </a:rPr>
              <a:t>Почему этот проект заслуживает внимания?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EB7C3C6-7CE8-445B-90DF-1C5965E48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28850"/>
            <a:ext cx="6667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0363A"/>
                </a:solidFill>
              </a:defRPr>
            </a:pPr>
            <a:r>
              <a:rPr sz="1425" b="0">
                <a:solidFill>
                  <a:srgbClr val="30363A"/>
                </a:solidFill>
              </a:rPr>
              <a:t>Он уже решает реальную пользовательскую задачу и имеет понятный путь дальнейшего роста.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D5BC8AB-E01D-4BF7-A3F4-408E68AEE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48100"/>
            <a:ext cx="3143250" cy="165735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5C45032-1DE4-45E2-9C87-A7B0D4224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48100"/>
            <a:ext cx="31432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F2177B2-DBC6-45D3-8FC0-31512F71D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076700"/>
            <a:ext cx="27241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1214"/>
                </a:solidFill>
              </a:defRPr>
            </a:pPr>
            <a:r>
              <a:rPr sz="2550" b="1">
                <a:solidFill>
                  <a:srgbClr val="101214"/>
                </a:solidFill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42C1B54-1279-4FC1-AFFD-5BB87E242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629150"/>
            <a:ext cx="2686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0363A"/>
                </a:solidFill>
              </a:defRPr>
            </a:pPr>
            <a:r>
              <a:rPr sz="1200" b="0">
                <a:solidFill>
                  <a:srgbClr val="30363A"/>
                </a:solidFill>
              </a:rPr>
              <a:t>Один браузерный инструмент для цикла решить-проверить-отладить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95D9A1F-A509-44D3-BD88-38DE21398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105400"/>
            <a:ext cx="2686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076"/>
                </a:solidFill>
              </a:defRPr>
            </a:pPr>
            <a:r>
              <a:rPr sz="750" b="0">
                <a:solidFill>
                  <a:srgbClr val="687076"/>
                </a:solidFill>
              </a:rPr>
              <a:t>Текущая ценность продукта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915F7D2-E7EC-4C5B-9AB4-698F24885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848100"/>
            <a:ext cx="3143250" cy="165735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9285136-8F2B-4135-B1B7-B6AA7FA94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848100"/>
            <a:ext cx="31432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A8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3ECEEE7-6235-4ED2-97AB-9ECAC2E19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4076700"/>
            <a:ext cx="27241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1214"/>
                </a:solidFill>
              </a:defRPr>
            </a:pPr>
            <a:r>
              <a:rPr sz="2550" b="1">
                <a:solidFill>
                  <a:srgbClr val="101214"/>
                </a:solidFill>
              </a:rPr>
              <a:t>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2B590E7-226C-41C7-87D1-B655ABD53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629150"/>
            <a:ext cx="2686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0363A"/>
                </a:solidFill>
              </a:defRPr>
            </a:pPr>
            <a:r>
              <a:rPr sz="1200" b="0">
                <a:solidFill>
                  <a:srgbClr val="30363A"/>
                </a:solidFill>
              </a:rPr>
              <a:t>Две реальные интеграции: запуск кода и ИИ-анализ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CA2B8DC-C172-4B0E-86A0-E7A7C9074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5105400"/>
            <a:ext cx="2686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076"/>
                </a:solidFill>
              </a:defRPr>
            </a:pPr>
            <a:r>
              <a:rPr sz="750" b="0">
                <a:solidFill>
                  <a:srgbClr val="687076"/>
                </a:solidFill>
              </a:rPr>
              <a:t>Техническая готовность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BFF5E23-1166-43D0-B707-4846EDAE2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848100"/>
            <a:ext cx="3143250" cy="165735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DBAF3D4-258A-4D39-AC4D-FA4C8C7FA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848100"/>
            <a:ext cx="31432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6F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68782A8-3F95-4768-93F8-777EB1696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076700"/>
            <a:ext cx="27241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1214"/>
                </a:solidFill>
              </a:defRPr>
            </a:pPr>
            <a:r>
              <a:rPr sz="2550" b="1">
                <a:solidFill>
                  <a:srgbClr val="101214"/>
                </a:solidFill>
              </a:rPr>
              <a:t>Дальше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A29C06B-6145-4060-8733-EB2B57F48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629150"/>
            <a:ext cx="2686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0363A"/>
                </a:solidFill>
              </a:defRPr>
            </a:pPr>
            <a:r>
              <a:rPr sz="1200" b="0">
                <a:solidFill>
                  <a:srgbClr val="30363A"/>
                </a:solidFill>
              </a:rPr>
              <a:t>В будущем: более гибкие стресс-тесты, сохранение сессий и усиление соревновательного сценария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11B3EC0-9A0E-47EC-8195-45F39F58F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5105400"/>
            <a:ext cx="2686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076"/>
                </a:solidFill>
              </a:defRPr>
            </a:pPr>
            <a:r>
              <a:rPr sz="750" b="0">
                <a:solidFill>
                  <a:srgbClr val="687076"/>
                </a:solidFill>
              </a:rPr>
              <a:t>План развития</a:t>
            </a:r>
          </a:p>
        </p:txBody>
      </p:sp>
    </p:spTree>
    <p:extLst>
      <p:ext uri="{BB962C8B-B14F-4D97-AF65-F5344CB8AC3E}">
        <p14:creationId xmlns:p14="http://schemas.microsoft.com/office/powerpoint/2010/main" val="197853049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2026-04-24T19:32:37.4750000Z</dcterms:created>
  <dcterms:modified xsi:type="dcterms:W3CDTF">2026-04-24T19:32:37.4750000Z</dcterms:modified>
</coreProperties>
</file>